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tableStyles" Target="tableStyles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hyperlink" Target="https://www.inhand.com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686050"/>
            <a:ext cx="6858000" cy="721994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0525" y="3790950"/>
            <a:ext cx="6248400" cy="15430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0525" y="5362575"/>
            <a:ext cx="6248400" cy="154305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86816" y="2818866"/>
            <a:ext cx="6282690" cy="854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5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-6985" algn="l" rtl="0" eaLnBrk="0">
              <a:lnSpc>
                <a:spcPct val="120000"/>
              </a:lnSpc>
              <a:tabLst/>
            </a:pP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the advancement of technology,</a:t>
            </a:r>
            <a:r>
              <a:rPr sz="9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 is a growing demand in the industrial and commercial</a:t>
            </a:r>
            <a:r>
              <a:rPr sz="9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sectors for</a:t>
            </a:r>
            <a:r>
              <a:rPr sz="9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real-time and efficient</a:t>
            </a:r>
            <a:r>
              <a:rPr sz="9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recognition.</a:t>
            </a:r>
            <a:r>
              <a:rPr sz="900" kern="0" spc="-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nal cloud-based</a:t>
            </a:r>
            <a:r>
              <a:rPr sz="900" kern="0" spc="1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recognition solutions are</a:t>
            </a:r>
            <a:r>
              <a:rPr sz="900" kern="0" spc="1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 longer able</a:t>
            </a:r>
            <a:r>
              <a:rPr sz="900" kern="0" spc="-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9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meet market demands. InHand offers the EC4600A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900" kern="0" spc="-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edge computer, providing powerful computing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indent="-635" algn="l" rtl="0" eaLnBrk="0">
              <a:lnSpc>
                <a:spcPct val="118000"/>
              </a:lnSpc>
              <a:spcBef>
                <a:spcPts val="154"/>
              </a:spcBef>
              <a:tabLst/>
            </a:pP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capabilities and stable</a:t>
            </a:r>
            <a:r>
              <a:rPr sz="900" kern="0" spc="1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performance.</a:t>
            </a:r>
            <a:r>
              <a:rPr sz="900" kern="0" spc="1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 helps customers process large amounts of image data locally and</a:t>
            </a:r>
            <a:r>
              <a:rPr sz="9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achieve efficient real-time decision-making, offering custom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ers more intelligent and secure</a:t>
            </a:r>
            <a:r>
              <a:rPr sz="900" kern="0" spc="-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solutions.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162425" y="571500"/>
            <a:ext cx="2695575" cy="165735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377581" y="991184"/>
            <a:ext cx="3075939" cy="1290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80000"/>
              </a:lnSpc>
              <a:tabLst/>
            </a:pPr>
            <a:r>
              <a:rPr sz="1200" b="1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Embrace</a:t>
            </a:r>
            <a:r>
              <a:rPr sz="1200" b="1" kern="0" spc="1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Edge</a:t>
            </a:r>
            <a:r>
              <a:rPr sz="1200" b="1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AI,</a:t>
            </a:r>
            <a:endParaRPr sz="12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ts val="1465"/>
              </a:lnSpc>
              <a:spcBef>
                <a:spcPts val="682"/>
              </a:spcBef>
              <a:tabLst/>
            </a:pPr>
            <a:r>
              <a:rPr sz="1200" b="1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Empower the era of</a:t>
            </a:r>
            <a:r>
              <a:rPr sz="1200" b="1" kern="0" spc="-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</a:t>
            </a:r>
            <a:r>
              <a:rPr sz="1200" b="1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200" b="1" kern="0" spc="1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recognition.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899"/>
              </a:spcBef>
              <a:tabLst/>
            </a:pPr>
            <a:r>
              <a:rPr sz="26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</a:t>
            </a:r>
            <a:r>
              <a:rPr sz="2600" b="1" kern="0" spc="2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4600 </a:t>
            </a:r>
            <a:r>
              <a:rPr sz="26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Series</a:t>
            </a:r>
            <a:r>
              <a:rPr sz="2600" b="1" kern="0" spc="2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0000"/>
              </a:lnSpc>
              <a:spcBef>
                <a:spcPts val="6"/>
              </a:spcBef>
              <a:tabLst/>
            </a:pPr>
            <a:r>
              <a:rPr sz="2600" b="1" kern="0" spc="15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Edge Compu</a:t>
            </a:r>
            <a:r>
              <a:rPr sz="2600" b="1" kern="0" spc="1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4707683" y="6430721"/>
            <a:ext cx="1793239" cy="429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1795" algn="l" rtl="0" eaLnBrk="0">
              <a:lnSpc>
                <a:spcPct val="83000"/>
              </a:lnSpc>
              <a:tabLst/>
            </a:pPr>
            <a:r>
              <a:rPr sz="1200" b="1" kern="0" spc="5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</a:t>
            </a:r>
            <a:r>
              <a:rPr sz="1200" b="1" kern="0" spc="1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kern="0" spc="5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Utility</a:t>
            </a:r>
            <a:endParaRPr sz="1200" dirty="0">
              <a:latin typeface="Arial"/>
              <a:ea typeface="Arial"/>
              <a:cs typeface="Arial"/>
            </a:endParaRPr>
          </a:p>
          <a:p>
            <a:pPr marL="283845" algn="l" rtl="0" eaLnBrk="0">
              <a:lnSpc>
                <a:spcPts val="994"/>
              </a:lnSpc>
              <a:spcBef>
                <a:spcPts val="1"/>
              </a:spcBef>
              <a:tabLst/>
            </a:pP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Improving</a:t>
            </a:r>
            <a:r>
              <a:rPr sz="8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ef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ficiency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91"/>
              </a:lnSpc>
              <a:tabLst/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convenience of public services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4758520" y="4873705"/>
            <a:ext cx="1743075" cy="429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200" b="1" kern="0" spc="8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 Manufactur</a:t>
            </a:r>
            <a:r>
              <a:rPr sz="1200" b="1" kern="0" spc="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91135" algn="l" rtl="0" eaLnBrk="0">
              <a:lnSpc>
                <a:spcPts val="990"/>
              </a:lnSpc>
              <a:spcBef>
                <a:spcPts val="8"/>
              </a:spcBef>
              <a:tabLst/>
            </a:pP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Real-time monito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ring and</a:t>
            </a:r>
            <a:endParaRPr sz="800" dirty="0">
              <a:latin typeface="Arial"/>
              <a:ea typeface="Arial"/>
              <a:cs typeface="Arial"/>
            </a:endParaRPr>
          </a:p>
          <a:p>
            <a:pPr marL="570865" algn="l" rtl="0" eaLnBrk="0">
              <a:lnSpc>
                <a:spcPts val="990"/>
              </a:lnSpc>
              <a:tabLst/>
            </a:pP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controllin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476446" y="6455236"/>
            <a:ext cx="1711960" cy="429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0504" algn="l" rtl="0" eaLnBrk="0">
              <a:lnSpc>
                <a:spcPct val="75000"/>
              </a:lnSpc>
              <a:tabLst/>
            </a:pPr>
            <a:r>
              <a:rPr sz="1200" b="1" kern="0" spc="5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 Busines</a:t>
            </a:r>
            <a:r>
              <a:rPr sz="12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90"/>
              </a:lnSpc>
              <a:spcBef>
                <a:spcPts val="123"/>
              </a:spcBef>
              <a:tabLst/>
            </a:pP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Focusing on</a:t>
            </a:r>
            <a:r>
              <a:rPr sz="8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rec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ognition</a:t>
            </a:r>
            <a:endParaRPr sz="800" dirty="0">
              <a:latin typeface="Arial"/>
              <a:ea typeface="Arial"/>
              <a:cs typeface="Arial"/>
            </a:endParaRPr>
          </a:p>
          <a:p>
            <a:pPr marL="619125" algn="l" rtl="0" eaLnBrk="0">
              <a:lnSpc>
                <a:spcPts val="990"/>
              </a:lnSpc>
              <a:tabLst/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solutions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2693463" y="6436309"/>
            <a:ext cx="1705610" cy="42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8110" algn="l" rtl="0" eaLnBrk="0">
              <a:lnSpc>
                <a:spcPct val="74000"/>
              </a:lnSpc>
              <a:tabLst/>
            </a:pPr>
            <a:r>
              <a:rPr sz="1200" b="1" kern="0" spc="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 Health</a:t>
            </a:r>
            <a:r>
              <a:rPr sz="1200" b="1" kern="0" spc="6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Care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60020" algn="l" rtl="0" eaLnBrk="0">
              <a:lnSpc>
                <a:spcPts val="994"/>
              </a:lnSpc>
              <a:spcBef>
                <a:spcPts val="69"/>
              </a:spcBef>
              <a:tabLst/>
            </a:pP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Improving medical s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ervices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91"/>
              </a:lnSpc>
              <a:tabLst/>
            </a:pPr>
            <a:r>
              <a:rPr sz="8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patient</a:t>
            </a: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health management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2725680" y="4873705"/>
            <a:ext cx="1618614" cy="433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5445" algn="l" rtl="0" eaLnBrk="0">
              <a:lnSpc>
                <a:spcPct val="83000"/>
              </a:lnSpc>
              <a:tabLst/>
            </a:pPr>
            <a:r>
              <a:rPr sz="1200" b="1" kern="0" spc="6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 City</a:t>
            </a:r>
            <a:endParaRPr sz="1200" dirty="0">
              <a:latin typeface="Arial"/>
              <a:ea typeface="Arial"/>
              <a:cs typeface="Arial"/>
            </a:endParaRPr>
          </a:p>
          <a:p>
            <a:pPr marL="321945" indent="-309245" algn="l" rtl="0" eaLnBrk="0">
              <a:lnSpc>
                <a:spcPct val="105000"/>
              </a:lnSpc>
              <a:spcBef>
                <a:spcPts val="6"/>
              </a:spcBef>
              <a:tabLst/>
            </a:pPr>
            <a:r>
              <a:rPr sz="8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Improving</a:t>
            </a:r>
            <a:r>
              <a:rPr sz="8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urban m</a:t>
            </a: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anagement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public services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675836" y="4883889"/>
            <a:ext cx="1556385" cy="42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77000"/>
              </a:lnSpc>
              <a:tabLst/>
            </a:pPr>
            <a:r>
              <a:rPr sz="1200" b="1" kern="0" spc="6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 Energy</a:t>
            </a:r>
            <a:endParaRPr sz="1200" dirty="0">
              <a:latin typeface="Arial"/>
              <a:ea typeface="Arial"/>
              <a:cs typeface="Arial"/>
            </a:endParaRPr>
          </a:p>
          <a:p>
            <a:pPr marL="23495" indent="-10795" algn="l" rtl="0" eaLnBrk="0">
              <a:lnSpc>
                <a:spcPct val="104000"/>
              </a:lnSpc>
              <a:spcBef>
                <a:spcPts val="17"/>
              </a:spcBef>
              <a:tabLst/>
            </a:pP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Focusing on energ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8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efficiency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susta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inable development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276225" y="2352675"/>
            <a:ext cx="2019300" cy="200025"/>
          </a:xfrm>
          <a:prstGeom prst="rect">
            <a:avLst/>
          </a:prstGeom>
          <a:solidFill>
            <a:srgbClr val="E6F6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2079" algn="l" rtl="0" eaLnBrk="0">
              <a:lnSpc>
                <a:spcPts val="1097"/>
              </a:lnSpc>
              <a:spcBef>
                <a:spcPts val="1"/>
              </a:spcBef>
              <a:tabLst/>
            </a:pPr>
            <a:r>
              <a:rPr sz="9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Strong computing ca</a:t>
            </a:r>
            <a:r>
              <a:rPr sz="900" b="1" kern="0" spc="3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pability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429000" y="2352675"/>
            <a:ext cx="1724025" cy="200025"/>
          </a:xfrm>
          <a:prstGeom prst="rect">
            <a:avLst/>
          </a:prstGeom>
          <a:solidFill>
            <a:srgbClr val="E6F6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2079" algn="l" rtl="0" eaLnBrk="0">
              <a:lnSpc>
                <a:spcPts val="1097"/>
              </a:lnSpc>
              <a:tabLst/>
            </a:pPr>
            <a:r>
              <a:rPr sz="9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4-way</a:t>
            </a:r>
            <a:r>
              <a:rPr sz="900" b="1" kern="0" spc="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camera sup</a:t>
            </a:r>
            <a:r>
              <a:rPr sz="900" b="1" kern="0" spc="3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port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055760" y="510058"/>
            <a:ext cx="1736725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5"/>
              </a:lnSpc>
              <a:tabLst/>
            </a:pPr>
            <a:r>
              <a:rPr sz="1700" kern="0" spc="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InHand</a:t>
            </a:r>
            <a:r>
              <a:rPr sz="1700" kern="0" spc="23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248275" y="2333625"/>
            <a:ext cx="1171575" cy="209550"/>
          </a:xfrm>
          <a:prstGeom prst="rect">
            <a:avLst/>
          </a:prstGeom>
          <a:solidFill>
            <a:srgbClr val="E6F6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7795" algn="l" rtl="0" eaLnBrk="0">
              <a:lnSpc>
                <a:spcPts val="1100"/>
              </a:lnSpc>
              <a:spcBef>
                <a:spcPts val="1"/>
              </a:spcBef>
              <a:tabLst/>
            </a:pPr>
            <a:r>
              <a:rPr sz="900" b="1" kern="0" spc="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b="1" kern="0" spc="18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900" b="1" kern="0" spc="10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reliability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63525" y="7121525"/>
            <a:ext cx="93535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79375" algn="l" rtl="0" eaLnBrk="0">
              <a:lnSpc>
                <a:spcPct val="75000"/>
              </a:lnSpc>
              <a:tabLst>
                <a:tab pos="164464" algn="l"/>
              </a:tabLst>
            </a:pPr>
            <a:r>
              <a:rPr sz="14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Solution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6" name="path 36"/>
          <p:cNvSpPr/>
          <p:nvPr/>
        </p:nvSpPr>
        <p:spPr>
          <a:xfrm>
            <a:off x="276225" y="7134225"/>
            <a:ext cx="66675" cy="190500"/>
          </a:xfrm>
          <a:custGeom>
            <a:avLst/>
            <a:gdLst/>
            <a:ahLst/>
            <a:cxnLst/>
            <a:rect l="0" t="0" r="0" b="0"/>
            <a:pathLst>
              <a:path w="105" h="300">
                <a:moveTo>
                  <a:pt x="0" y="52"/>
                </a:moveTo>
                <a:cubicBezTo>
                  <a:pt x="0" y="23"/>
                  <a:pt x="23" y="0"/>
                  <a:pt x="52" y="0"/>
                </a:cubicBezTo>
                <a:lnTo>
                  <a:pt x="52" y="0"/>
                </a:lnTo>
                <a:cubicBezTo>
                  <a:pt x="81" y="0"/>
                  <a:pt x="105" y="23"/>
                  <a:pt x="105" y="52"/>
                </a:cubicBezTo>
                <a:lnTo>
                  <a:pt x="105" y="247"/>
                </a:lnTo>
                <a:cubicBezTo>
                  <a:pt x="105" y="276"/>
                  <a:pt x="81" y="300"/>
                  <a:pt x="52" y="300"/>
                </a:cubicBezTo>
                <a:lnTo>
                  <a:pt x="52" y="300"/>
                </a:lnTo>
                <a:cubicBezTo>
                  <a:pt x="23" y="300"/>
                  <a:pt x="0" y="276"/>
                  <a:pt x="0" y="247"/>
                </a:cubicBezTo>
                <a:lnTo>
                  <a:pt x="0" y="52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38"/>
          <p:cNvSpPr/>
          <p:nvPr/>
        </p:nvSpPr>
        <p:spPr>
          <a:xfrm>
            <a:off x="2409825" y="2362200"/>
            <a:ext cx="838200" cy="200025"/>
          </a:xfrm>
          <a:prstGeom prst="rect">
            <a:avLst/>
          </a:prstGeom>
          <a:solidFill>
            <a:srgbClr val="E6F6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2714" algn="l" rtl="0" eaLnBrk="0">
              <a:lnSpc>
                <a:spcPts val="1100"/>
              </a:lnSpc>
              <a:tabLst/>
            </a:pPr>
            <a:r>
              <a:rPr sz="900" b="1" kern="0" spc="-2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-2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900" b="1" kern="0" spc="5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-2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2360676" y="8999537"/>
          <a:ext cx="717550" cy="212725"/>
        </p:xfrm>
        <a:graphic>
          <a:graphicData uri="http://schemas.openxmlformats.org/drawingml/2006/table">
            <a:tbl>
              <a:tblPr/>
              <a:tblGrid>
                <a:gridCol w="717550"/>
              </a:tblGrid>
              <a:tr h="200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textbox 42"/>
          <p:cNvSpPr/>
          <p:nvPr/>
        </p:nvSpPr>
        <p:spPr>
          <a:xfrm>
            <a:off x="408065" y="598858"/>
            <a:ext cx="561975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05"/>
              </a:lnSpc>
              <a:tabLst/>
            </a:pPr>
            <a:r>
              <a:rPr sz="1400" kern="0" spc="-7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uyhand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44" name="path 44"/>
          <p:cNvSpPr/>
          <p:nvPr/>
        </p:nvSpPr>
        <p:spPr>
          <a:xfrm>
            <a:off x="547475" y="505884"/>
            <a:ext cx="140505" cy="85792"/>
          </a:xfrm>
          <a:custGeom>
            <a:avLst/>
            <a:gdLst/>
            <a:ahLst/>
            <a:cxnLst/>
            <a:rect l="0" t="0" r="0" b="0"/>
            <a:pathLst>
              <a:path w="221" h="135">
                <a:moveTo>
                  <a:pt x="221" y="92"/>
                </a:moveTo>
                <a:cubicBezTo>
                  <a:pt x="213" y="99"/>
                  <a:pt x="169" y="138"/>
                  <a:pt x="112" y="133"/>
                </a:cubicBezTo>
                <a:cubicBezTo>
                  <a:pt x="56" y="128"/>
                  <a:pt x="28" y="113"/>
                  <a:pt x="0" y="82"/>
                </a:cubicBezTo>
                <a:cubicBezTo>
                  <a:pt x="0" y="82"/>
                  <a:pt x="55" y="79"/>
                  <a:pt x="130" y="0"/>
                </a:cubicBezTo>
                <a:cubicBezTo>
                  <a:pt x="156" y="24"/>
                  <a:pt x="175" y="49"/>
                  <a:pt x="221" y="92"/>
                </a:cubicBezTo>
                <a:lnTo>
                  <a:pt x="221" y="92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8217" y="390846"/>
            <a:ext cx="444642" cy="212617"/>
          </a:xfrm>
          <a:prstGeom prst="rect">
            <a:avLst/>
          </a:prstGeom>
        </p:spPr>
      </p:pic>
      <p:sp>
        <p:nvSpPr>
          <p:cNvPr id="48" name="path 48"/>
          <p:cNvSpPr/>
          <p:nvPr/>
        </p:nvSpPr>
        <p:spPr>
          <a:xfrm>
            <a:off x="717049" y="381606"/>
            <a:ext cx="175826" cy="97958"/>
          </a:xfrm>
          <a:custGeom>
            <a:avLst/>
            <a:gdLst/>
            <a:ahLst/>
            <a:cxnLst/>
            <a:rect l="0" t="0" r="0" b="0"/>
            <a:pathLst>
              <a:path w="276" h="154">
                <a:moveTo>
                  <a:pt x="276" y="82"/>
                </a:moveTo>
                <a:lnTo>
                  <a:pt x="276" y="109"/>
                </a:lnTo>
                <a:cubicBezTo>
                  <a:pt x="276" y="109"/>
                  <a:pt x="245" y="143"/>
                  <a:pt x="233" y="152"/>
                </a:cubicBezTo>
                <a:cubicBezTo>
                  <a:pt x="215" y="137"/>
                  <a:pt x="152" y="89"/>
                  <a:pt x="86" y="154"/>
                </a:cubicBezTo>
                <a:cubicBezTo>
                  <a:pt x="49" y="107"/>
                  <a:pt x="0" y="62"/>
                  <a:pt x="0" y="62"/>
                </a:cubicBezTo>
                <a:cubicBezTo>
                  <a:pt x="0" y="62"/>
                  <a:pt x="54" y="3"/>
                  <a:pt x="142" y="0"/>
                </a:cubicBezTo>
                <a:cubicBezTo>
                  <a:pt x="222" y="2"/>
                  <a:pt x="265" y="67"/>
                  <a:pt x="276" y="82"/>
                </a:cubicBezTo>
                <a:lnTo>
                  <a:pt x="276" y="82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path 50"/>
          <p:cNvSpPr/>
          <p:nvPr/>
        </p:nvSpPr>
        <p:spPr>
          <a:xfrm>
            <a:off x="420822" y="594593"/>
            <a:ext cx="21801" cy="27412"/>
          </a:xfrm>
          <a:custGeom>
            <a:avLst/>
            <a:gdLst/>
            <a:ahLst/>
            <a:cxnLst/>
            <a:rect l="0" t="0" r="0" b="0"/>
            <a:pathLst>
              <a:path w="34" h="43">
                <a:moveTo>
                  <a:pt x="0" y="43"/>
                </a:moveTo>
                <a:lnTo>
                  <a:pt x="0" y="0"/>
                </a:lnTo>
                <a:lnTo>
                  <a:pt x="34" y="0"/>
                </a:lnTo>
                <a:lnTo>
                  <a:pt x="34" y="43"/>
                </a:lnTo>
                <a:lnTo>
                  <a:pt x="0" y="43"/>
                </a:lnTo>
                <a:close/>
              </a:path>
            </a:pathLst>
          </a:custGeom>
          <a:solidFill>
            <a:srgbClr val="22181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143500"/>
            <a:ext cx="6858000" cy="476249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95250" y="933450"/>
            <a:ext cx="6648450" cy="3028950"/>
            <a:chOff x="0" y="0"/>
            <a:chExt cx="6648450" cy="3028950"/>
          </a:xfrm>
        </p:grpSpPr>
        <p:sp>
          <p:nvSpPr>
            <p:cNvPr id="54" name="rect 54"/>
            <p:cNvSpPr/>
            <p:nvPr/>
          </p:nvSpPr>
          <p:spPr>
            <a:xfrm>
              <a:off x="0" y="0"/>
              <a:ext cx="6648450" cy="302895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56" name="picture 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600200"/>
              <a:ext cx="6648450" cy="1171575"/>
            </a:xfrm>
            <a:prstGeom prst="rect">
              <a:avLst/>
            </a:prstGeom>
          </p:spPr>
        </p:pic>
        <p:sp>
          <p:nvSpPr>
            <p:cNvPr id="58" name="textbox 58"/>
            <p:cNvSpPr/>
            <p:nvPr/>
          </p:nvSpPr>
          <p:spPr>
            <a:xfrm>
              <a:off x="141225" y="123469"/>
              <a:ext cx="6393815" cy="11487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3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6000"/>
                </a:lnSpc>
                <a:tabLst/>
              </a:pPr>
              <a:r>
                <a:rPr sz="800" kern="0" spc="0" dirty="0">
                  <a:solidFill>
                    <a:srgbClr val="3EB044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800" kern="0" spc="-210" dirty="0">
                  <a:solidFill>
                    <a:srgbClr val="3EB044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900" b="1" kern="0" spc="0" dirty="0">
                  <a:solidFill>
                    <a:srgbClr val="3EB04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Performance and</a:t>
              </a:r>
              <a:r>
                <a:rPr sz="900" b="1" kern="0" spc="110" dirty="0">
                  <a:solidFill>
                    <a:srgbClr val="3EB04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900" b="1" kern="0" spc="0" dirty="0">
                  <a:solidFill>
                    <a:srgbClr val="3EB04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Platform               </a:t>
              </a:r>
              <a:r>
                <a:rPr sz="800" kern="0" spc="0" dirty="0">
                  <a:solidFill>
                    <a:srgbClr val="3EB044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800" kern="0" spc="-200" dirty="0">
                  <a:solidFill>
                    <a:srgbClr val="3EB044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900" b="1" kern="0" spc="0" dirty="0">
                  <a:solidFill>
                    <a:srgbClr val="3EB04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Rich</a:t>
              </a:r>
              <a:r>
                <a:rPr sz="900" b="1" kern="0" spc="-10" dirty="0">
                  <a:solidFill>
                    <a:srgbClr val="3EB04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interfaces                                   </a:t>
              </a:r>
              <a:r>
                <a:rPr sz="800" kern="0" spc="-10" dirty="0">
                  <a:solidFill>
                    <a:srgbClr val="3EB044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800" kern="0" spc="-240" dirty="0">
                  <a:solidFill>
                    <a:srgbClr val="3EB044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900" b="1" kern="0" spc="-10" dirty="0">
                  <a:solidFill>
                    <a:srgbClr val="3EB044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Stable communication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  <a:p>
              <a:pPr marL="4328795" algn="l" rtl="0" eaLnBrk="0">
                <a:lnSpc>
                  <a:spcPct val="89000"/>
                </a:lnSpc>
                <a:spcBef>
                  <a:spcPts val="793"/>
                </a:spcBef>
                <a:tabLst/>
              </a:pPr>
              <a:r>
                <a:rPr sz="700" kern="0" spc="8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 </a:t>
              </a:r>
              <a:r>
                <a:rPr sz="800" kern="0" spc="8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4G/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</a:t>
              </a:r>
              <a:r>
                <a:rPr sz="800" kern="0" spc="8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Fi</a:t>
              </a:r>
              <a:r>
                <a:rPr sz="800" kern="0" spc="8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/ 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Ethernet</a:t>
              </a:r>
              <a:r>
                <a:rPr sz="800" kern="0" spc="7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, 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etc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4500245" indent="-171450" algn="l" rtl="0" eaLnBrk="0">
                <a:lnSpc>
                  <a:spcPct val="106000"/>
                </a:lnSpc>
                <a:spcBef>
                  <a:spcPts val="83"/>
                </a:spcBef>
                <a:tabLst/>
              </a:pPr>
              <a:r>
                <a:rPr sz="700" kern="0" spc="4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 </a:t>
              </a:r>
              <a:r>
                <a:rPr sz="800" kern="0" spc="4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Wired, cellular, Wi-Fi mutual backup,</a:t>
              </a:r>
              <a:r>
                <a:rPr sz="800" kern="0" spc="2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4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dual</a:t>
              </a:r>
              <a:r>
                <a:rPr sz="800" kern="0" spc="-2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4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SIM</a:t>
              </a:r>
              <a:r>
                <a:rPr sz="800" kern="0" spc="-2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4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failover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4495800" indent="-167004" algn="l" rtl="0" eaLnBrk="0">
                <a:lnSpc>
                  <a:spcPct val="104000"/>
                </a:lnSpc>
                <a:spcBef>
                  <a:spcPts val="13"/>
                </a:spcBef>
                <a:tabLst/>
              </a:pPr>
              <a:r>
                <a:rPr sz="700" kern="0" spc="5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 </a:t>
              </a:r>
              <a:r>
                <a:rPr sz="800" kern="0" spc="5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Independent hardware and</a:t>
              </a:r>
              <a:r>
                <a:rPr sz="800" kern="0" spc="2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5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software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7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watchdog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4328795" algn="l" rtl="0" eaLnBrk="0">
                <a:lnSpc>
                  <a:spcPts val="1005"/>
                </a:lnSpc>
                <a:spcBef>
                  <a:spcPts val="21"/>
                </a:spcBef>
                <a:tabLst/>
              </a:pPr>
              <a:r>
                <a:rPr sz="700" kern="0" spc="9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r>
                <a:rPr sz="700" kern="0" spc="3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Metal</a:t>
              </a:r>
              <a:r>
                <a:rPr sz="800" kern="0" spc="9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shell</a:t>
              </a:r>
              <a:r>
                <a:rPr sz="800" kern="0" spc="9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90" dirty="0">
                  <a:solidFill>
                    <a:srgbClr val="50505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800" kern="0" spc="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IP</a:t>
              </a:r>
              <a:r>
                <a:rPr sz="800" kern="0" spc="9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40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4328795" algn="l" rtl="0" eaLnBrk="0">
                <a:lnSpc>
                  <a:spcPct val="80000"/>
                </a:lnSpc>
                <a:spcBef>
                  <a:spcPts val="233"/>
                </a:spcBef>
                <a:tabLst/>
              </a:pPr>
              <a:r>
                <a:rPr sz="700" kern="0" spc="1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r>
                <a:rPr sz="700" kern="0" spc="4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800" kern="0" spc="10" dirty="0">
                  <a:solidFill>
                    <a:srgbClr val="50505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Fanless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0" name="rect 60"/>
          <p:cNvSpPr/>
          <p:nvPr/>
        </p:nvSpPr>
        <p:spPr>
          <a:xfrm>
            <a:off x="0" y="8609012"/>
            <a:ext cx="6858000" cy="1296984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2" name="table 62"/>
          <p:cNvGraphicFramePr>
            <a:graphicFrameLocks noGrp="1"/>
          </p:cNvGraphicFramePr>
          <p:nvPr/>
        </p:nvGraphicFramePr>
        <p:xfrm>
          <a:off x="0" y="4941951"/>
          <a:ext cx="6858000" cy="231775"/>
        </p:xfrm>
        <a:graphic>
          <a:graphicData uri="http://schemas.openxmlformats.org/drawingml/2006/table">
            <a:tbl>
              <a:tblPr/>
              <a:tblGrid>
                <a:gridCol w="6858000"/>
              </a:tblGrid>
              <a:tr h="219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textbox 64"/>
          <p:cNvSpPr/>
          <p:nvPr/>
        </p:nvSpPr>
        <p:spPr>
          <a:xfrm>
            <a:off x="2369658" y="1277542"/>
            <a:ext cx="1883410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5"/>
              </a:lnSpc>
              <a:tabLst/>
            </a:pPr>
            <a:r>
              <a:rPr sz="8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6x</a:t>
            </a:r>
            <a:r>
              <a:rPr sz="800" kern="0" spc="-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10/100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Mbps</a:t>
            </a:r>
            <a:r>
              <a:rPr sz="8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Ethernet</a:t>
            </a:r>
            <a:r>
              <a:rPr sz="8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interface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5"/>
              </a:lnSpc>
              <a:spcBef>
                <a:spcPts val="44"/>
              </a:spcBef>
              <a:tabLst/>
            </a:pPr>
            <a:r>
              <a:rPr sz="8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2x</a:t>
            </a:r>
            <a:r>
              <a:rPr sz="8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USB2.0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5"/>
              </a:lnSpc>
              <a:spcBef>
                <a:spcPts val="46"/>
              </a:spcBef>
              <a:tabLst/>
            </a:pP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800" kern="0" spc="1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RS</a:t>
            </a: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-232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800" kern="0" spc="-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800" kern="0" spc="1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RS</a:t>
            </a: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-485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5"/>
              </a:lnSpc>
              <a:spcBef>
                <a:spcPts val="119"/>
              </a:spcBef>
              <a:tabLst/>
            </a:pP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HDMI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8"/>
              </a:lnSpc>
              <a:spcBef>
                <a:spcPts val="42"/>
              </a:spcBef>
              <a:tabLst/>
            </a:pP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Backup battery in</a:t>
            </a:r>
            <a:r>
              <a:rPr sz="8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terface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SPK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GPIO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NTC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216373" y="1289820"/>
            <a:ext cx="1899920" cy="774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0339" indent="-167639" algn="l" rtl="0" eaLnBrk="0">
              <a:lnSpc>
                <a:spcPct val="97000"/>
              </a:lnSpc>
              <a:tabLst/>
            </a:pP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800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CPU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800" kern="0" spc="21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Octa-core</a:t>
            </a:r>
            <a:r>
              <a:rPr sz="800" kern="0" spc="-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ARM processor</a:t>
            </a:r>
            <a:r>
              <a:rPr sz="8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frequency  up to2.7GHz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173"/>
              </a:spcBef>
              <a:tabLst/>
            </a:pP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GPU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800" kern="0" spc="210" dirty="0">
                <a:solidFill>
                  <a:srgbClr val="50505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Qualcomm®</a:t>
            </a:r>
            <a:r>
              <a:rPr sz="800" kern="0" spc="-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</a:t>
            </a:r>
            <a:r>
              <a:rPr sz="8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renoTM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0" algn="l" rtl="0" eaLnBrk="0">
              <a:lnSpc>
                <a:spcPts val="990"/>
              </a:lnSpc>
              <a:tabLst/>
            </a:pP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643</a:t>
            </a:r>
            <a:r>
              <a:rPr sz="8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@ 812</a:t>
            </a:r>
            <a:r>
              <a:rPr sz="8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MHz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8595" indent="-176529" algn="l" rtl="0" eaLnBrk="0">
              <a:lnSpc>
                <a:spcPct val="104000"/>
              </a:lnSpc>
              <a:spcBef>
                <a:spcPts val="14"/>
              </a:spcBef>
              <a:tabLst/>
            </a:pPr>
            <a:r>
              <a:rPr sz="8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Comprehensiv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computing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</a:t>
            </a:r>
            <a:r>
              <a:rPr sz="8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14</a:t>
            </a:r>
            <a:r>
              <a:rPr sz="8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TOPS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44475" y="489025"/>
            <a:ext cx="241427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ts val="1737"/>
              </a:lnSpc>
              <a:tabLst>
                <a:tab pos="200660" algn="l"/>
              </a:tabLst>
            </a:pPr>
            <a:r>
              <a:rPr sz="14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b="1" kern="0" spc="9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 and</a:t>
            </a:r>
            <a:r>
              <a:rPr sz="1400" b="1" kern="0" spc="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9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Advantage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70" name="path 70"/>
          <p:cNvSpPr/>
          <p:nvPr/>
        </p:nvSpPr>
        <p:spPr>
          <a:xfrm>
            <a:off x="257175" y="514350"/>
            <a:ext cx="76200" cy="200025"/>
          </a:xfrm>
          <a:custGeom>
            <a:avLst/>
            <a:gdLst/>
            <a:ahLst/>
            <a:cxnLst/>
            <a:rect l="0" t="0" r="0" b="0"/>
            <a:pathLst>
              <a:path w="120" h="315">
                <a:moveTo>
                  <a:pt x="0" y="60"/>
                </a:moveTo>
                <a:cubicBezTo>
                  <a:pt x="0" y="26"/>
                  <a:pt x="26" y="0"/>
                  <a:pt x="60" y="0"/>
                </a:cubicBezTo>
                <a:lnTo>
                  <a:pt x="60" y="0"/>
                </a:lnTo>
                <a:cubicBezTo>
                  <a:pt x="93" y="0"/>
                  <a:pt x="120" y="26"/>
                  <a:pt x="120" y="60"/>
                </a:cubicBezTo>
                <a:lnTo>
                  <a:pt x="120" y="255"/>
                </a:lnTo>
                <a:cubicBezTo>
                  <a:pt x="120" y="288"/>
                  <a:pt x="93" y="315"/>
                  <a:pt x="60" y="315"/>
                </a:cubicBezTo>
                <a:lnTo>
                  <a:pt x="60" y="315"/>
                </a:lnTo>
                <a:cubicBezTo>
                  <a:pt x="26" y="315"/>
                  <a:pt x="0" y="288"/>
                  <a:pt x="0" y="255"/>
                </a:cubicBezTo>
                <a:lnTo>
                  <a:pt x="0" y="6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textbox 72"/>
          <p:cNvSpPr/>
          <p:nvPr/>
        </p:nvSpPr>
        <p:spPr>
          <a:xfrm>
            <a:off x="149225" y="4427931"/>
            <a:ext cx="185420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ts val="1737"/>
              </a:lnSpc>
              <a:tabLst>
                <a:tab pos="200025" algn="l"/>
              </a:tabLst>
            </a:pPr>
            <a:r>
              <a:rPr sz="14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b="1" kern="0" spc="8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</a:t>
            </a:r>
            <a:r>
              <a:rPr sz="1400" b="1" kern="0" spc="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s (mm)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74" name="path 74"/>
          <p:cNvSpPr/>
          <p:nvPr/>
        </p:nvSpPr>
        <p:spPr>
          <a:xfrm>
            <a:off x="161925" y="4448175"/>
            <a:ext cx="76200" cy="200025"/>
          </a:xfrm>
          <a:custGeom>
            <a:avLst/>
            <a:gdLst/>
            <a:ahLst/>
            <a:cxnLst/>
            <a:rect l="0" t="0" r="0" b="0"/>
            <a:pathLst>
              <a:path w="120" h="315">
                <a:moveTo>
                  <a:pt x="0" y="60"/>
                </a:moveTo>
                <a:cubicBezTo>
                  <a:pt x="0" y="26"/>
                  <a:pt x="26" y="0"/>
                  <a:pt x="60" y="0"/>
                </a:cubicBezTo>
                <a:lnTo>
                  <a:pt x="60" y="0"/>
                </a:lnTo>
                <a:cubicBezTo>
                  <a:pt x="93" y="0"/>
                  <a:pt x="120" y="26"/>
                  <a:pt x="120" y="60"/>
                </a:cubicBezTo>
                <a:lnTo>
                  <a:pt x="120" y="255"/>
                </a:lnTo>
                <a:cubicBezTo>
                  <a:pt x="120" y="288"/>
                  <a:pt x="93" y="315"/>
                  <a:pt x="60" y="315"/>
                </a:cubicBezTo>
                <a:lnTo>
                  <a:pt x="60" y="315"/>
                </a:lnTo>
                <a:cubicBezTo>
                  <a:pt x="26" y="315"/>
                  <a:pt x="0" y="288"/>
                  <a:pt x="0" y="255"/>
                </a:cubicBezTo>
                <a:lnTo>
                  <a:pt x="0" y="6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5481349" y="390816"/>
            <a:ext cx="850264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600" kern="0" spc="8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EC4600</a:t>
            </a:r>
            <a:r>
              <a:rPr sz="600" kern="0" spc="16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8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Datasheet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78" name="path 78"/>
          <p:cNvSpPr/>
          <p:nvPr/>
        </p:nvSpPr>
        <p:spPr>
          <a:xfrm>
            <a:off x="6400800" y="381000"/>
            <a:ext cx="114300" cy="104775"/>
          </a:xfrm>
          <a:custGeom>
            <a:avLst/>
            <a:gdLst/>
            <a:ahLst/>
            <a:cxnLst/>
            <a:rect l="0" t="0" r="0" b="0"/>
            <a:pathLst>
              <a:path w="180" h="165">
                <a:moveTo>
                  <a:pt x="180" y="0"/>
                </a:moveTo>
                <a:lnTo>
                  <a:pt x="90" y="0"/>
                </a:lnTo>
                <a:cubicBezTo>
                  <a:pt x="40" y="0"/>
                  <a:pt x="0" y="37"/>
                  <a:pt x="0" y="82"/>
                </a:cubicBezTo>
                <a:cubicBezTo>
                  <a:pt x="0" y="128"/>
                  <a:pt x="40" y="165"/>
                  <a:pt x="90" y="165"/>
                </a:cubicBezTo>
                <a:lnTo>
                  <a:pt x="180" y="165"/>
                </a:lnTo>
                <a:lnTo>
                  <a:pt x="180" y="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3635375" y="817956"/>
          <a:ext cx="2879090" cy="2370455"/>
        </p:xfrm>
        <a:graphic>
          <a:graphicData uri="http://schemas.openxmlformats.org/drawingml/2006/table">
            <a:tbl>
              <a:tblPr/>
              <a:tblGrid>
                <a:gridCol w="630555"/>
                <a:gridCol w="2248535"/>
              </a:tblGrid>
              <a:tr h="15748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944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Software Specifications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3EB0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3EB044"/>
                    </a:solidFill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ts val="639"/>
                        </a:lnSpc>
                        <a:tabLst/>
                      </a:pPr>
                      <a:r>
                        <a:rPr sz="500" kern="0" spc="4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4600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</a:tr>
              <a:tr h="15684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</a:tr>
              <a:tr h="157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Android12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Network Interconn</a:t>
                      </a:r>
                      <a:r>
                        <a:rPr sz="500" kern="0" spc="3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ection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8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Network Type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LAN Protocol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944" algn="l" rtl="0" eaLnBrk="0">
                        <a:lnSpc>
                          <a:spcPct val="7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ARP, Ethernet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WAN Protocol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Static</a:t>
                      </a:r>
                      <a:r>
                        <a:rPr sz="500" kern="0" spc="1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IP, DHCP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Security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</a:tr>
              <a:tr h="147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Secure</a:t>
                      </a:r>
                      <a:r>
                        <a:rPr sz="500" kern="0" spc="5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Boot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84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500" kern="0" spc="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Reliability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7F1D8"/>
                    </a:solidFill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8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Backup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Dual</a:t>
                      </a:r>
                      <a:r>
                        <a:rPr sz="500" kern="0" spc="9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Link</a:t>
                      </a:r>
                      <a:r>
                        <a:rPr sz="500" kern="0" spc="7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Detection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Multi-Level link detection, auto-redials once disconn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ected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Embedded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Watchdog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Device self-diagnosing, auto-recovers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from operation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faults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" name="textbox 82"/>
          <p:cNvSpPr/>
          <p:nvPr/>
        </p:nvSpPr>
        <p:spPr>
          <a:xfrm>
            <a:off x="342900" y="4524578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74000"/>
              </a:lnSpc>
              <a:tabLst/>
            </a:pPr>
            <a:r>
              <a:rPr sz="500" kern="0" spc="3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Mechanical Fea</a:t>
            </a:r>
            <a:r>
              <a:rPr sz="500" kern="0" spc="2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ture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342900" y="2062302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639"/>
              </a:lnSpc>
              <a:spcBef>
                <a:spcPts val="2"/>
              </a:spcBef>
              <a:tabLst/>
            </a:pPr>
            <a:r>
              <a:rPr sz="500" kern="0" spc="2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Interfaces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86" name="table 86"/>
          <p:cNvGraphicFramePr>
            <a:graphicFrameLocks noGrp="1"/>
          </p:cNvGraphicFramePr>
          <p:nvPr/>
        </p:nvGraphicFramePr>
        <p:xfrm>
          <a:off x="342900" y="2217928"/>
          <a:ext cx="2880994" cy="2308225"/>
        </p:xfrm>
        <a:graphic>
          <a:graphicData uri="http://schemas.openxmlformats.org/drawingml/2006/table">
            <a:tbl>
              <a:tblPr/>
              <a:tblGrid>
                <a:gridCol w="631190"/>
                <a:gridCol w="2249804"/>
              </a:tblGrid>
              <a:tr h="1701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EtherNet Port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6x</a:t>
                      </a:r>
                      <a:r>
                        <a:rPr sz="500" kern="0" spc="-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10/100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Mbps</a:t>
                      </a:r>
                      <a:r>
                        <a:rPr sz="500" kern="0" spc="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Ethernet</a:t>
                      </a:r>
                      <a:r>
                        <a:rPr sz="500" kern="0" spc="8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1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indent="1270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Camera</a:t>
                      </a:r>
                      <a:r>
                        <a:rPr sz="500" kern="0" spc="-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</a:t>
                      </a: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supply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500" kern="0" spc="-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white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round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5521,</a:t>
                      </a:r>
                      <a:r>
                        <a:rPr sz="500" kern="0" spc="-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5W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Serial Port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 RS-232,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500" kern="0" spc="10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DB9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indent="-5080" algn="l" rtl="0" eaLnBrk="0">
                        <a:lnSpc>
                          <a:spcPct val="10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 RS-485, One is</a:t>
                      </a:r>
                      <a:r>
                        <a:rPr sz="500" kern="0" spc="-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 4-pin with power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suppl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y, and</a:t>
                      </a:r>
                      <a:r>
                        <a:rPr sz="500" kern="0" spc="-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other is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</a:t>
                      </a:r>
                      <a:r>
                        <a:rPr sz="500" kern="0" spc="-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3-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pin</a:t>
                      </a:r>
                      <a:r>
                        <a:rPr sz="500" kern="0" spc="10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industrial terminal;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GPIO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ts val="643"/>
                        </a:lnSpc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NTC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 NTC temperature</a:t>
                      </a:r>
                      <a:r>
                        <a:rPr sz="500" kern="0" spc="-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nsing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Wi-Fi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ts val="639"/>
                        </a:lnSpc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802.11a/b/g/n/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ax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2.4G/5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dual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band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USB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ts val="639"/>
                        </a:lnSpc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USB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2.0,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HDMI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4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HDMI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500" kern="0" spc="1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4x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SPK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 SPK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5W</a:t>
                      </a:r>
                      <a:r>
                        <a:rPr sz="500" kern="0" spc="-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speakers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</a:t>
                      </a:r>
                      <a:r>
                        <a:rPr sz="500" kern="0" spc="8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Backup bat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tery interface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 Button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Card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 Nano SIM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Slot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8" name="textbox 88"/>
          <p:cNvSpPr/>
          <p:nvPr/>
        </p:nvSpPr>
        <p:spPr>
          <a:xfrm>
            <a:off x="342900" y="1132535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75000"/>
              </a:lnSpc>
              <a:spcBef>
                <a:spcPts val="1"/>
              </a:spcBef>
              <a:tabLst/>
            </a:pPr>
            <a:r>
              <a:rPr sz="500" kern="0" spc="3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Hardware Platform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342900" y="1288224"/>
          <a:ext cx="2880994" cy="775334"/>
        </p:xfrm>
        <a:graphic>
          <a:graphicData uri="http://schemas.openxmlformats.org/drawingml/2006/table">
            <a:tbl>
              <a:tblPr/>
              <a:tblGrid>
                <a:gridCol w="631190"/>
                <a:gridCol w="2249804"/>
              </a:tblGrid>
              <a:tr h="302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CPU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ts val="61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Qualcomm QCM6490</a:t>
                      </a:r>
                      <a:r>
                        <a:rPr sz="500" kern="0" spc="-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ARM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Coretex technology 1</a:t>
                      </a:r>
                      <a:r>
                        <a:rPr sz="500" kern="0" spc="-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 Kryo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670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algn="l" rtl="0" eaLnBrk="0">
                        <a:lnSpc>
                          <a:spcPct val="10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Goldplus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@ 2.7</a:t>
                      </a:r>
                      <a:r>
                        <a:rPr sz="500" kern="0" spc="-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GHz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+ 3</a:t>
                      </a:r>
                      <a:r>
                        <a:rPr sz="500" kern="0" spc="-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Kryo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670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Gold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@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2.4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GHz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+</a:t>
                      </a:r>
                      <a:r>
                        <a:rPr sz="500" kern="0" spc="-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500" kern="0" spc="-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Kryo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670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Silver@ 1.9GHz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GPU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Qualcomm®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drenoTM643 @</a:t>
                      </a:r>
                      <a:r>
                        <a:rPr sz="500" kern="0" spc="-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812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RAM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eMMC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2" name="textbox 92"/>
          <p:cNvSpPr/>
          <p:nvPr/>
        </p:nvSpPr>
        <p:spPr>
          <a:xfrm>
            <a:off x="342900" y="6129083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639"/>
              </a:lnSpc>
              <a:spcBef>
                <a:spcPts val="1"/>
              </a:spcBef>
              <a:tabLst/>
            </a:pPr>
            <a:r>
              <a:rPr sz="500" kern="0" spc="3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Indicator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342900" y="6825424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639"/>
              </a:lnSpc>
              <a:spcBef>
                <a:spcPts val="1"/>
              </a:spcBef>
              <a:tabLst/>
            </a:pPr>
            <a:r>
              <a:rPr sz="500" kern="0" spc="1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EMC Index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342900" y="6284785"/>
          <a:ext cx="2880994" cy="541654"/>
        </p:xfrm>
        <a:graphic>
          <a:graphicData uri="http://schemas.openxmlformats.org/drawingml/2006/table">
            <a:tbl>
              <a:tblPr/>
              <a:tblGrid>
                <a:gridCol w="631190"/>
                <a:gridCol w="2249804"/>
              </a:tblGrid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</a:t>
                      </a:r>
                      <a:r>
                        <a:rPr sz="500" kern="0" spc="-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supply indicator light, always on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after power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status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indicator light</a:t>
                      </a:r>
                      <a:r>
                        <a:rPr sz="500" kern="0" spc="-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flashes during normal operation;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3G/4G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indent="-5714" algn="l" rtl="0" eaLnBrk="0">
                        <a:lnSpc>
                          <a:spcPct val="10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3G/4Gconnection indic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ator</a:t>
                      </a:r>
                      <a:r>
                        <a:rPr sz="5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light</a:t>
                      </a:r>
                      <a:r>
                        <a:rPr sz="500" kern="0" spc="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always on</a:t>
                      </a:r>
                      <a:r>
                        <a:rPr sz="500" kern="0" spc="-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when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connected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normally;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8" name="textbox 98"/>
          <p:cNvSpPr/>
          <p:nvPr/>
        </p:nvSpPr>
        <p:spPr>
          <a:xfrm>
            <a:off x="342900" y="5206872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3000"/>
              </a:lnSpc>
              <a:tabLst/>
            </a:pPr>
            <a:r>
              <a:rPr sz="500" kern="0" spc="3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</a:t>
            </a:r>
            <a:r>
              <a:rPr sz="500" kern="0" spc="-1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Supply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342900" y="4680267"/>
          <a:ext cx="2879725" cy="527684"/>
        </p:xfrm>
        <a:graphic>
          <a:graphicData uri="http://schemas.openxmlformats.org/drawingml/2006/table">
            <a:tbl>
              <a:tblPr/>
              <a:tblGrid>
                <a:gridCol w="631190"/>
                <a:gridCol w="882650"/>
                <a:gridCol w="559434"/>
                <a:gridCol w="806450"/>
              </a:tblGrid>
              <a:tr h="225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ts val="63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Installatio</a:t>
                      </a: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3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wall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mount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ts val="39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Protection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ts val="702"/>
                        </a:lnSpc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ts val="63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Dimensions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1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190x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143x 40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102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(Including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installation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parts)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Housing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textbox 102"/>
          <p:cNvSpPr/>
          <p:nvPr/>
        </p:nvSpPr>
        <p:spPr>
          <a:xfrm>
            <a:off x="342900" y="7454455"/>
            <a:ext cx="2879725" cy="157479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500" kern="0" spc="2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Physical</a:t>
            </a:r>
            <a:r>
              <a:rPr sz="500" kern="0" spc="7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2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342900" y="6981063"/>
          <a:ext cx="2880994" cy="474979"/>
        </p:xfrm>
        <a:graphic>
          <a:graphicData uri="http://schemas.openxmlformats.org/drawingml/2006/table">
            <a:tbl>
              <a:tblPr/>
              <a:tblGrid>
                <a:gridCol w="631190"/>
                <a:gridCol w="2249804"/>
              </a:tblGrid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ESD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Surge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500" kern="0" spc="-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2;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6" name="textbox 106"/>
          <p:cNvSpPr/>
          <p:nvPr/>
        </p:nvSpPr>
        <p:spPr>
          <a:xfrm>
            <a:off x="342900" y="5520575"/>
            <a:ext cx="2879725" cy="160020"/>
          </a:xfrm>
          <a:prstGeom prst="rect">
            <a:avLst/>
          </a:prstGeom>
          <a:solidFill>
            <a:srgbClr val="D7F1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1594" algn="l" rtl="0" eaLnBrk="0">
              <a:lnSpc>
                <a:spcPts val="643"/>
              </a:lnSpc>
              <a:spcBef>
                <a:spcPts val="1"/>
              </a:spcBef>
              <a:tabLst/>
            </a:pPr>
            <a:r>
              <a:rPr sz="500" kern="0" spc="4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Ambient</a:t>
            </a:r>
            <a:r>
              <a:rPr sz="500" kern="0" spc="3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40" dirty="0">
                <a:solidFill>
                  <a:srgbClr val="333333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Temperature and Humidity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342900" y="5678741"/>
          <a:ext cx="2880995" cy="451484"/>
        </p:xfrm>
        <a:graphic>
          <a:graphicData uri="http://schemas.openxmlformats.org/drawingml/2006/table">
            <a:tbl>
              <a:tblPr/>
              <a:tblGrid>
                <a:gridCol w="631190"/>
                <a:gridCol w="882650"/>
                <a:gridCol w="559434"/>
                <a:gridCol w="807719"/>
              </a:tblGrid>
              <a:tr h="225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Working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94" algn="l" rtl="0" eaLnBrk="0">
                        <a:lnSpc>
                          <a:spcPct val="78000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Temperatur</a:t>
                      </a: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-10~</a:t>
                      </a:r>
                      <a:r>
                        <a:rPr sz="500" kern="0" spc="6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  <a:r>
                        <a:rPr sz="500" kern="0" spc="-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℃</a:t>
                      </a:r>
                      <a:endParaRPr sz="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8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78000"/>
                        </a:lnSpc>
                        <a:spcBef>
                          <a:spcPts val="125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Temperatur</a:t>
                      </a: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ts val="63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-40 ~ 85</a:t>
                      </a:r>
                      <a:r>
                        <a:rPr sz="500" kern="0" spc="1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℃</a:t>
                      </a:r>
                      <a:endParaRPr sz="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Ambient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4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Humidity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ts val="64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 ~</a:t>
                      </a:r>
                      <a:r>
                        <a:rPr sz="500" kern="0" spc="3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95% (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non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condensing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 rot="21600000">
            <a:off x="342900" y="7926399"/>
            <a:ext cx="2879725" cy="158864"/>
            <a:chOff x="0" y="0"/>
            <a:chExt cx="2879725" cy="158864"/>
          </a:xfrm>
        </p:grpSpPr>
        <p:sp>
          <p:nvSpPr>
            <p:cNvPr id="110" name="rect 110"/>
            <p:cNvSpPr/>
            <p:nvPr/>
          </p:nvSpPr>
          <p:spPr>
            <a:xfrm>
              <a:off x="0" y="0"/>
              <a:ext cx="2879725" cy="157276"/>
            </a:xfrm>
            <a:prstGeom prst="rect">
              <a:avLst/>
            </a:prstGeom>
            <a:solidFill>
              <a:srgbClr val="D7F1D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2" name="textbox 112"/>
            <p:cNvSpPr/>
            <p:nvPr/>
          </p:nvSpPr>
          <p:spPr>
            <a:xfrm>
              <a:off x="52679" y="42954"/>
              <a:ext cx="419734" cy="82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7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500" kern="0" spc="30" dirty="0">
                  <a:solidFill>
                    <a:srgbClr val="333333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Certification</a:t>
              </a:r>
              <a:endParaRPr sz="5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14" name="path 114"/>
            <p:cNvSpPr/>
            <p:nvPr/>
          </p:nvSpPr>
          <p:spPr>
            <a:xfrm>
              <a:off x="0" y="155689"/>
              <a:ext cx="2879725" cy="3175"/>
            </a:xfrm>
            <a:custGeom>
              <a:avLst/>
              <a:gdLst/>
              <a:ahLst/>
              <a:cxnLst/>
              <a:rect l="0" t="0" r="0" b="0"/>
              <a:pathLst>
                <a:path w="4535" h="5">
                  <a:moveTo>
                    <a:pt x="0" y="2"/>
                  </a:moveTo>
                  <a:lnTo>
                    <a:pt x="4535" y="2"/>
                  </a:lnTo>
                </a:path>
              </a:pathLst>
            </a:custGeom>
            <a:noFill/>
            <a:ln w="3175" cap="flat">
              <a:solidFill>
                <a:srgbClr val="B9B9B9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342900" y="7610157"/>
          <a:ext cx="2880995" cy="317500"/>
        </p:xfrm>
        <a:graphic>
          <a:graphicData uri="http://schemas.openxmlformats.org/drawingml/2006/table">
            <a:tbl>
              <a:tblPr/>
              <a:tblGrid>
                <a:gridCol w="631190"/>
                <a:gridCol w="882650"/>
                <a:gridCol w="559434"/>
                <a:gridCol w="807719"/>
              </a:tblGrid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769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Shock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ts val="643"/>
                        </a:lnSpc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IEC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60068-2-27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13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Vibration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ts val="643"/>
                        </a:lnSpc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IEC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60068-2-6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Free</a:t>
                      </a:r>
                      <a:r>
                        <a:rPr sz="500" kern="0" spc="10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Fall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ts val="63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IEC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60068-2-32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8" name="textbox 118"/>
          <p:cNvSpPr/>
          <p:nvPr/>
        </p:nvSpPr>
        <p:spPr>
          <a:xfrm>
            <a:off x="342900" y="817956"/>
            <a:ext cx="2879725" cy="157479"/>
          </a:xfrm>
          <a:prstGeom prst="rect">
            <a:avLst/>
          </a:pr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731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5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Hardware Specifications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342900" y="973645"/>
          <a:ext cx="2880994" cy="160019"/>
        </p:xfrm>
        <a:graphic>
          <a:graphicData uri="http://schemas.openxmlformats.org/drawingml/2006/table">
            <a:tbl>
              <a:tblPr>
                <a:solidFill>
                  <a:srgbClr val="DCDCDC"/>
                </a:solidFill>
              </a:tblPr>
              <a:tblGrid>
                <a:gridCol w="631190"/>
                <a:gridCol w="2249804"/>
              </a:tblGrid>
              <a:tr h="160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ts val="639"/>
                        </a:lnSpc>
                        <a:tabLst/>
                      </a:pPr>
                      <a:r>
                        <a:rPr sz="500" kern="0" spc="4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</a:t>
                      </a:r>
                      <a:r>
                        <a:rPr sz="500" kern="0" spc="2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4600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" name="table 122"/>
          <p:cNvGraphicFramePr>
            <a:graphicFrameLocks noGrp="1"/>
          </p:cNvGraphicFramePr>
          <p:nvPr/>
        </p:nvGraphicFramePr>
        <p:xfrm>
          <a:off x="342900" y="5362130"/>
          <a:ext cx="2880994" cy="160020"/>
        </p:xfrm>
        <a:graphic>
          <a:graphicData uri="http://schemas.openxmlformats.org/drawingml/2006/table">
            <a:tbl>
              <a:tblPr/>
              <a:tblGrid>
                <a:gridCol w="631190"/>
                <a:gridCol w="2249804"/>
              </a:tblGrid>
              <a:tr h="160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ts val="64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2E8433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 Input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4" algn="l" rtl="0" eaLnBrk="0">
                        <a:lnSpc>
                          <a:spcPts val="64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DC</a:t>
                      </a:r>
                      <a:r>
                        <a:rPr sz="500" kern="0" spc="5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500" kern="0" spc="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B9B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4" name="textbox 124"/>
          <p:cNvSpPr/>
          <p:nvPr/>
        </p:nvSpPr>
        <p:spPr>
          <a:xfrm>
            <a:off x="330200" y="482600"/>
            <a:ext cx="231838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83000"/>
              </a:lnSpc>
              <a:spcBef>
                <a:spcPts val="2"/>
              </a:spcBef>
              <a:tabLst>
                <a:tab pos="199389" algn="l"/>
              </a:tabLst>
            </a:pPr>
            <a:r>
              <a:rPr sz="14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b="1" kern="0" spc="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 S</a:t>
            </a:r>
            <a:r>
              <a:rPr sz="1400" b="1" kern="0" spc="6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pecifications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path 126"/>
          <p:cNvSpPr/>
          <p:nvPr/>
        </p:nvSpPr>
        <p:spPr>
          <a:xfrm>
            <a:off x="342900" y="495300"/>
            <a:ext cx="76200" cy="200025"/>
          </a:xfrm>
          <a:custGeom>
            <a:avLst/>
            <a:gdLst/>
            <a:ahLst/>
            <a:cxnLst/>
            <a:rect l="0" t="0" r="0" b="0"/>
            <a:pathLst>
              <a:path w="120" h="315">
                <a:moveTo>
                  <a:pt x="0" y="60"/>
                </a:moveTo>
                <a:cubicBezTo>
                  <a:pt x="0" y="26"/>
                  <a:pt x="26" y="0"/>
                  <a:pt x="60" y="0"/>
                </a:cubicBezTo>
                <a:lnTo>
                  <a:pt x="60" y="0"/>
                </a:lnTo>
                <a:cubicBezTo>
                  <a:pt x="93" y="0"/>
                  <a:pt x="120" y="26"/>
                  <a:pt x="120" y="60"/>
                </a:cubicBezTo>
                <a:lnTo>
                  <a:pt x="120" y="255"/>
                </a:lnTo>
                <a:cubicBezTo>
                  <a:pt x="120" y="288"/>
                  <a:pt x="93" y="315"/>
                  <a:pt x="60" y="315"/>
                </a:cubicBezTo>
                <a:lnTo>
                  <a:pt x="60" y="315"/>
                </a:lnTo>
                <a:cubicBezTo>
                  <a:pt x="26" y="315"/>
                  <a:pt x="0" y="288"/>
                  <a:pt x="0" y="255"/>
                </a:cubicBezTo>
                <a:lnTo>
                  <a:pt x="0" y="6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textbox 128"/>
          <p:cNvSpPr/>
          <p:nvPr/>
        </p:nvSpPr>
        <p:spPr>
          <a:xfrm>
            <a:off x="5286834" y="9497530"/>
            <a:ext cx="124015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88"/>
              </a:lnSpc>
              <a:tabLst/>
            </a:pPr>
            <a:r>
              <a:rPr sz="1200" kern="0" spc="1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InHand</a:t>
            </a:r>
            <a:r>
              <a:rPr sz="1200" kern="0" spc="20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1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4827182" y="9547969"/>
            <a:ext cx="406400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200" kern="0" spc="-16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irphan</a:t>
            </a:r>
            <a:r>
              <a:rPr sz="1200" kern="0" spc="-9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5480968" y="390816"/>
            <a:ext cx="850264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600" kern="0" spc="8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EC4600</a:t>
            </a:r>
            <a:r>
              <a:rPr sz="600" kern="0" spc="16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8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Datasheet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path 134"/>
          <p:cNvSpPr/>
          <p:nvPr/>
        </p:nvSpPr>
        <p:spPr>
          <a:xfrm>
            <a:off x="4929804" y="9498383"/>
            <a:ext cx="99713" cy="60237"/>
          </a:xfrm>
          <a:custGeom>
            <a:avLst/>
            <a:gdLst/>
            <a:ahLst/>
            <a:cxnLst/>
            <a:rect l="0" t="0" r="0" b="0"/>
            <a:pathLst>
              <a:path w="157" h="94">
                <a:moveTo>
                  <a:pt x="157" y="64"/>
                </a:moveTo>
                <a:cubicBezTo>
                  <a:pt x="151" y="70"/>
                  <a:pt x="120" y="97"/>
                  <a:pt x="79" y="93"/>
                </a:cubicBezTo>
                <a:cubicBezTo>
                  <a:pt x="39" y="90"/>
                  <a:pt x="19" y="79"/>
                  <a:pt x="0" y="57"/>
                </a:cubicBezTo>
                <a:cubicBezTo>
                  <a:pt x="0" y="57"/>
                  <a:pt x="39" y="55"/>
                  <a:pt x="92" y="0"/>
                </a:cubicBezTo>
                <a:cubicBezTo>
                  <a:pt x="111" y="17"/>
                  <a:pt x="124" y="34"/>
                  <a:pt x="157" y="64"/>
                </a:cubicBezTo>
                <a:lnTo>
                  <a:pt x="157" y="64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59363" y="9417611"/>
            <a:ext cx="315551" cy="149285"/>
          </a:xfrm>
          <a:prstGeom prst="rect">
            <a:avLst/>
          </a:prstGeom>
        </p:spPr>
      </p:pic>
      <p:sp>
        <p:nvSpPr>
          <p:cNvPr id="138" name="path 138"/>
          <p:cNvSpPr/>
          <p:nvPr/>
        </p:nvSpPr>
        <p:spPr>
          <a:xfrm>
            <a:off x="6400800" y="381000"/>
            <a:ext cx="114300" cy="104775"/>
          </a:xfrm>
          <a:custGeom>
            <a:avLst/>
            <a:gdLst/>
            <a:ahLst/>
            <a:cxnLst/>
            <a:rect l="0" t="0" r="0" b="0"/>
            <a:pathLst>
              <a:path w="180" h="165">
                <a:moveTo>
                  <a:pt x="180" y="0"/>
                </a:moveTo>
                <a:lnTo>
                  <a:pt x="90" y="0"/>
                </a:lnTo>
                <a:cubicBezTo>
                  <a:pt x="40" y="0"/>
                  <a:pt x="0" y="37"/>
                  <a:pt x="0" y="82"/>
                </a:cubicBezTo>
                <a:cubicBezTo>
                  <a:pt x="0" y="128"/>
                  <a:pt x="40" y="165"/>
                  <a:pt x="90" y="165"/>
                </a:cubicBezTo>
                <a:lnTo>
                  <a:pt x="180" y="165"/>
                </a:lnTo>
                <a:lnTo>
                  <a:pt x="180" y="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" name="path 140"/>
          <p:cNvSpPr/>
          <p:nvPr/>
        </p:nvSpPr>
        <p:spPr>
          <a:xfrm>
            <a:off x="342900" y="8239315"/>
            <a:ext cx="2879725" cy="3175"/>
          </a:xfrm>
          <a:custGeom>
            <a:avLst/>
            <a:gdLst/>
            <a:ahLst/>
            <a:cxnLst/>
            <a:rect l="0" t="0" r="0" b="0"/>
            <a:pathLst>
              <a:path w="4535" h="5">
                <a:moveTo>
                  <a:pt x="0" y="2"/>
                </a:moveTo>
                <a:lnTo>
                  <a:pt x="4535" y="2"/>
                </a:lnTo>
              </a:path>
            </a:pathLst>
          </a:custGeom>
          <a:noFill/>
          <a:ln w="3175" cap="flat">
            <a:solidFill>
              <a:srgbClr val="B9B9B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path 142"/>
          <p:cNvSpPr/>
          <p:nvPr/>
        </p:nvSpPr>
        <p:spPr>
          <a:xfrm>
            <a:off x="5050146" y="9411124"/>
            <a:ext cx="124779" cy="68779"/>
          </a:xfrm>
          <a:custGeom>
            <a:avLst/>
            <a:gdLst/>
            <a:ahLst/>
            <a:cxnLst/>
            <a:rect l="0" t="0" r="0" b="0"/>
            <a:pathLst>
              <a:path w="196" h="108">
                <a:moveTo>
                  <a:pt x="196" y="57"/>
                </a:moveTo>
                <a:lnTo>
                  <a:pt x="196" y="77"/>
                </a:lnTo>
                <a:cubicBezTo>
                  <a:pt x="196" y="77"/>
                  <a:pt x="174" y="100"/>
                  <a:pt x="165" y="106"/>
                </a:cubicBezTo>
                <a:cubicBezTo>
                  <a:pt x="153" y="96"/>
                  <a:pt x="108" y="62"/>
                  <a:pt x="61" y="108"/>
                </a:cubicBezTo>
                <a:cubicBezTo>
                  <a:pt x="34" y="75"/>
                  <a:pt x="0" y="44"/>
                  <a:pt x="0" y="44"/>
                </a:cubicBezTo>
                <a:cubicBezTo>
                  <a:pt x="0" y="44"/>
                  <a:pt x="38" y="2"/>
                  <a:pt x="101" y="0"/>
                </a:cubicBezTo>
                <a:cubicBezTo>
                  <a:pt x="157" y="1"/>
                  <a:pt x="188" y="47"/>
                  <a:pt x="196" y="57"/>
                </a:cubicBezTo>
                <a:lnTo>
                  <a:pt x="196" y="57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7686675"/>
            <a:ext cx="6858000" cy="2219322"/>
          </a:xfrm>
          <a:prstGeom prst="rect">
            <a:avLst/>
          </a:prstGeom>
        </p:spPr>
      </p:pic>
      <p:graphicFrame>
        <p:nvGraphicFramePr>
          <p:cNvPr id="146" name="table 146"/>
          <p:cNvGraphicFramePr>
            <a:graphicFrameLocks noGrp="1"/>
          </p:cNvGraphicFramePr>
          <p:nvPr/>
        </p:nvGraphicFramePr>
        <p:xfrm>
          <a:off x="380530" y="2519553"/>
          <a:ext cx="5339080" cy="1553209"/>
        </p:xfrm>
        <a:graphic>
          <a:graphicData uri="http://schemas.openxmlformats.org/drawingml/2006/table">
            <a:tbl>
              <a:tblPr/>
              <a:tblGrid>
                <a:gridCol w="1149985"/>
                <a:gridCol w="1828164"/>
                <a:gridCol w="476884"/>
                <a:gridCol w="419100"/>
                <a:gridCol w="713740"/>
                <a:gridCol w="751205"/>
              </a:tblGrid>
              <a:tr h="2736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  <a:r>
                        <a:rPr sz="6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04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054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Cellular Type &amp;Frequency Ba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nd: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ct val="73000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&lt;WMNN&gt;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044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6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Memory       FLASH</a:t>
                      </a:r>
                      <a:r>
                        <a:rPr sz="6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6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Ethern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et</a:t>
                      </a:r>
                      <a:r>
                        <a:rPr sz="6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Port</a:t>
                      </a:r>
                      <a:r>
                        <a:rPr sz="6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Serial</a:t>
                      </a:r>
                      <a:r>
                        <a:rPr sz="600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Port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0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0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0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044"/>
                    </a:solidFill>
                  </a:tcPr>
                </a:tc>
              </a:tr>
              <a:tr h="7308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265" algn="l" rtl="0" eaLnBrk="0">
                        <a:lnSpc>
                          <a:spcPts val="73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4600-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DQ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STD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China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LTE</a:t>
                      </a:r>
                      <a:r>
                        <a:rPr sz="600" kern="0" spc="8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CAT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78000"/>
                        </a:lnSpc>
                        <a:spcBef>
                          <a:spcPts val="163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LTE</a:t>
                      </a: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FDD</a:t>
                      </a: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12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B1/B3/B5/B8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78000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LTE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TDD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-7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B34/B38/B39/B40/B41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25" algn="l" rtl="0" eaLnBrk="0">
                        <a:lnSpc>
                          <a:spcPct val="79000"/>
                        </a:lnSpc>
                        <a:spcBef>
                          <a:spcPts val="182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WCDMA</a:t>
                      </a:r>
                      <a:r>
                        <a:rPr sz="600" kern="0" spc="2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1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B1/B8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78000"/>
                        </a:lnSpc>
                        <a:spcBef>
                          <a:spcPts val="191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SCDMA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12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B34/B39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74000"/>
                        </a:lnSpc>
                        <a:spcBef>
                          <a:spcPts val="193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CDMA:</a:t>
                      </a:r>
                      <a:r>
                        <a:rPr sz="600" kern="0" spc="1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BC0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78000"/>
                        </a:lnSpc>
                        <a:spcBef>
                          <a:spcPts val="132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GSM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900/1800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304" algn="l" rtl="0" eaLnBrk="0">
                        <a:lnSpc>
                          <a:spcPts val="73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ts val="73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-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  <a:r>
                        <a:rPr sz="600" kern="0" spc="9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-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970" algn="l" rtl="0" eaLnBrk="0">
                        <a:lnSpc>
                          <a:spcPts val="73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6x 100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Mbps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62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</a:t>
                      </a:r>
                      <a:r>
                        <a:rPr sz="600" kern="0" spc="5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RS232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9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</a:t>
                      </a:r>
                      <a:r>
                        <a:rPr sz="600" kern="0" spc="6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RS485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4600-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FQ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58-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STD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EMEA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LTE</a:t>
                      </a:r>
                      <a:r>
                        <a:rPr sz="600" kern="0" spc="-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CAT</a:t>
                      </a:r>
                      <a:r>
                        <a:rPr sz="600" kern="0" spc="-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78000"/>
                        </a:lnSpc>
                        <a:spcBef>
                          <a:spcPts val="138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LTE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FDD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-8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Band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1/3/7/8/2</a:t>
                      </a:r>
                      <a:r>
                        <a:rPr sz="600" kern="0" spc="2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0/28A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79000"/>
                        </a:lnSpc>
                        <a:spcBef>
                          <a:spcPts val="106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LTE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TDD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-5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Band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38/40/41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25" algn="l" rtl="0" eaLnBrk="0">
                        <a:lnSpc>
                          <a:spcPct val="78000"/>
                        </a:lnSpc>
                        <a:spcBef>
                          <a:spcPts val="190"/>
                        </a:spcBef>
                        <a:tabLst/>
                      </a:pPr>
                      <a:r>
                        <a:rPr sz="600" kern="0" spc="2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WCDMA:Band1/8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GSM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600" kern="0" spc="-8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Band</a:t>
                      </a: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3/8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304" algn="l" rtl="0" eaLnBrk="0">
                        <a:lnSpc>
                          <a:spcPts val="73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600" kern="0" spc="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ts val="73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-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  <a:r>
                        <a:rPr sz="600" kern="0" spc="9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-3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970" algn="l" rtl="0" eaLnBrk="0">
                        <a:lnSpc>
                          <a:spcPts val="731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6x 100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Mbps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629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</a:t>
                      </a:r>
                      <a:r>
                        <a:rPr sz="600" kern="0" spc="5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RS232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9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2x</a:t>
                      </a:r>
                      <a:r>
                        <a:rPr sz="600" kern="0" spc="6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101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RS485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8"/>
          <p:cNvSpPr/>
          <p:nvPr/>
        </p:nvSpPr>
        <p:spPr>
          <a:xfrm>
            <a:off x="300466" y="7836915"/>
            <a:ext cx="3621404" cy="2020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</a:t>
            </a:r>
            <a:r>
              <a:rPr sz="800" b="1" kern="0" spc="8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4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Us</a:t>
            </a:r>
            <a:endParaRPr sz="800" dirty="0">
              <a:latin typeface="Arial"/>
              <a:ea typeface="Arial"/>
              <a:cs typeface="Arial"/>
            </a:endParaRPr>
          </a:p>
          <a:p>
            <a:pPr marL="16509" indent="5080" algn="l" rtl="0" eaLnBrk="0">
              <a:lnSpc>
                <a:spcPct val="138000"/>
              </a:lnSpc>
              <a:spcBef>
                <a:spcPts val="887"/>
              </a:spcBef>
              <a:tabLst/>
            </a:pP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600" kern="0" spc="-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Hand</a:t>
            </a:r>
            <a:r>
              <a:rPr sz="600" kern="0" spc="9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 is a</a:t>
            </a:r>
            <a:r>
              <a:rPr sz="600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leading</a:t>
            </a:r>
            <a:r>
              <a:rPr sz="600" kern="0" spc="9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IoT solutions provider</a:t>
            </a:r>
            <a:r>
              <a:rPr sz="6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founded in 2001, dedicated to</a:t>
            </a:r>
            <a:r>
              <a:rPr sz="6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driving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digital transformation across industries and empowering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customers to</a:t>
            </a:r>
            <a:r>
              <a:rPr sz="600" kern="0" spc="1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unlock their full</a:t>
            </a:r>
            <a:endParaRPr sz="6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731"/>
              </a:lnSpc>
              <a:spcBef>
                <a:spcPts val="379"/>
              </a:spcBef>
              <a:tabLst/>
            </a:pP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potential and achieve acc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elerated growth.</a:t>
            </a:r>
            <a:endParaRPr sz="600" dirty="0">
              <a:latin typeface="Arial"/>
              <a:ea typeface="Arial"/>
              <a:cs typeface="Arial"/>
            </a:endParaRPr>
          </a:p>
          <a:p>
            <a:pPr marL="16509" indent="-635" algn="l" rtl="0" eaLnBrk="0">
              <a:lnSpc>
                <a:spcPct val="147000"/>
              </a:lnSpc>
              <a:spcBef>
                <a:spcPts val="1128"/>
              </a:spcBef>
              <a:tabLst/>
            </a:pP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 specialize in delivering</a:t>
            </a:r>
            <a:r>
              <a:rPr sz="600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industrial-grade connectivity solutions for diverse sectors, such</a:t>
            </a:r>
            <a:r>
              <a:rPr sz="6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6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enterprise networks, industrial</a:t>
            </a:r>
            <a:r>
              <a:rPr sz="600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building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IoT, digital</a:t>
            </a:r>
            <a:r>
              <a:rPr sz="6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energy,</a:t>
            </a:r>
            <a:r>
              <a:rPr sz="600" kern="0" spc="-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 commerce, and mobility.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 comprehensive product portfolio and services ca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</a:t>
            </a:r>
            <a:r>
              <a:rPr sz="600" kern="0" spc="-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6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various applications worldwide,</a:t>
            </a:r>
            <a:endParaRPr sz="600" dirty="0">
              <a:latin typeface="Arial"/>
              <a:ea typeface="Arial"/>
              <a:cs typeface="Arial"/>
            </a:endParaRPr>
          </a:p>
          <a:p>
            <a:pPr marL="16509" indent="2540" algn="l" rtl="0" eaLnBrk="0">
              <a:lnSpc>
                <a:spcPct val="141000"/>
              </a:lnSpc>
              <a:spcBef>
                <a:spcPts val="177"/>
              </a:spcBef>
              <a:tabLst/>
            </a:pP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including</a:t>
            </a:r>
            <a:r>
              <a:rPr sz="600" kern="0" spc="-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smart</a:t>
            </a:r>
            <a:r>
              <a:rPr sz="600" kern="0" spc="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manufacturing, smart grid, intelligent tran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sportation, smart retail, etc</a:t>
            </a:r>
            <a:r>
              <a:rPr sz="600" kern="0" spc="-10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With</a:t>
            </a:r>
            <a:r>
              <a:rPr sz="6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6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footprint spanning</a:t>
            </a:r>
            <a:r>
              <a:rPr sz="600" kern="0" spc="-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r 60 countries,</a:t>
            </a:r>
            <a:r>
              <a:rPr sz="600" kern="0" spc="-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 serve customers in China, the United States,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France,</a:t>
            </a:r>
            <a:r>
              <a:rPr sz="6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Germany, the United Kingdom,</a:t>
            </a:r>
            <a:r>
              <a:rPr sz="6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Italy, and</a:t>
            </a:r>
            <a:r>
              <a:rPr sz="6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beyond.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639"/>
              </a:lnSpc>
              <a:spcBef>
                <a:spcPts val="155"/>
              </a:spcBef>
              <a:tabLst/>
            </a:pP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File no.: IPC Version 1.0 2024</a:t>
            </a:r>
            <a:r>
              <a:rPr sz="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©</a:t>
            </a:r>
            <a:r>
              <a:rPr sz="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5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5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 In</a:t>
            </a:r>
            <a:r>
              <a:rPr sz="5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Hand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Networks. All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rights</a:t>
            </a:r>
            <a:r>
              <a:rPr sz="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reserved.</a:t>
            </a:r>
            <a:endParaRPr sz="5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643"/>
              </a:lnSpc>
              <a:spcBef>
                <a:spcPts val="108"/>
              </a:spcBef>
              <a:tabLst/>
            </a:pPr>
            <a:r>
              <a:rPr sz="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5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Hand Net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works</a:t>
            </a:r>
            <a:r>
              <a:rPr sz="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reserves</a:t>
            </a:r>
            <a:r>
              <a:rPr sz="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right</a:t>
            </a:r>
            <a:r>
              <a:rPr sz="5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update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modify this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 at any time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ithout prior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notice.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4272508" y="8662885"/>
            <a:ext cx="1649729" cy="679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28000"/>
              </a:lnSpc>
              <a:tabLst/>
            </a:pP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43671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Trade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Center</a:t>
            </a:r>
            <a:r>
              <a:rPr sz="600" kern="0" spc="1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600" kern="0" spc="-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Suite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100,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Dulles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 20166,</a:t>
            </a:r>
            <a:r>
              <a:rPr sz="600" kern="0" spc="1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USA</a:t>
            </a: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1"/>
              </a:lnSpc>
              <a:spcBef>
                <a:spcPts val="335"/>
              </a:spcBef>
              <a:tabLst/>
            </a:pP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T:</a:t>
            </a:r>
            <a:r>
              <a:rPr sz="6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+1</a:t>
            </a:r>
            <a:r>
              <a:rPr sz="6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(703) 348-2</a:t>
            </a:r>
            <a:r>
              <a:rPr sz="6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98</a:t>
            </a:r>
            <a:r>
              <a:rPr sz="600" kern="0" spc="-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134000"/>
              </a:lnSpc>
              <a:tabLst/>
            </a:pP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</a:t>
            </a:r>
            <a:r>
              <a:rPr sz="600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info@inhand</a:t>
            </a:r>
            <a:r>
              <a:rPr sz="600" kern="0" spc="2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.com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</a:t>
            </a:r>
            <a:r>
              <a:rPr sz="600" kern="0" spc="5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505050"/>
                      <wpsdc:folHlinkClr xmlns:wpsdc="http://www.wps.cn/officeDocument/2017/drawingmlCustomData" val="505050"/>
                      <wpsdc:hlinkUnderline xmlns:wpsdc="http://www.wps.cn/officeDocument/2017/drawingmlCustomData" val="0"/>
                    </a:ext>
                  </a:extLst>
                </a:hlinkClick>
              </a:rPr>
              <a:t>www.inhand</a:t>
            </a:r>
            <a:r>
              <a:rPr sz="600" kern="0" spc="4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505050"/>
                      <wpsdc:folHlinkClr xmlns:wpsdc="http://www.wps.cn/officeDocument/2017/drawingmlCustomData" val="505050"/>
                      <wpsdc:hlinkUnderline xmlns:wpsdc="http://www.wps.cn/officeDocument/2017/drawingmlCustomData" val="0"/>
                    </a:ext>
                  </a:extLst>
                </a:hlinkClick>
              </a:rPr>
              <a:t>.com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200" y="482600"/>
            <a:ext cx="1639570" cy="544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84000"/>
              </a:lnSpc>
              <a:spcBef>
                <a:spcPts val="2"/>
              </a:spcBef>
              <a:tabLst>
                <a:tab pos="191770" algn="l"/>
              </a:tabLst>
            </a:pPr>
            <a:r>
              <a:rPr sz="1400" b="1" kern="0" spc="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b="1" kern="0" spc="7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Ordering Guide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ts val="1191"/>
              </a:lnSpc>
              <a:tabLst/>
            </a:pPr>
            <a:r>
              <a:rPr sz="900" b="1" kern="0" spc="9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Description of </a:t>
            </a:r>
            <a:r>
              <a:rPr sz="900" b="1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selection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4" name="path 154"/>
          <p:cNvSpPr/>
          <p:nvPr/>
        </p:nvSpPr>
        <p:spPr>
          <a:xfrm>
            <a:off x="342900" y="495300"/>
            <a:ext cx="76200" cy="200025"/>
          </a:xfrm>
          <a:custGeom>
            <a:avLst/>
            <a:gdLst/>
            <a:ahLst/>
            <a:cxnLst/>
            <a:rect l="0" t="0" r="0" b="0"/>
            <a:pathLst>
              <a:path w="120" h="315">
                <a:moveTo>
                  <a:pt x="0" y="60"/>
                </a:moveTo>
                <a:cubicBezTo>
                  <a:pt x="0" y="26"/>
                  <a:pt x="26" y="0"/>
                  <a:pt x="60" y="0"/>
                </a:cubicBezTo>
                <a:lnTo>
                  <a:pt x="60" y="0"/>
                </a:lnTo>
                <a:cubicBezTo>
                  <a:pt x="93" y="0"/>
                  <a:pt x="120" y="26"/>
                  <a:pt x="120" y="60"/>
                </a:cubicBezTo>
                <a:lnTo>
                  <a:pt x="120" y="255"/>
                </a:lnTo>
                <a:cubicBezTo>
                  <a:pt x="120" y="288"/>
                  <a:pt x="93" y="315"/>
                  <a:pt x="60" y="315"/>
                </a:cubicBezTo>
                <a:lnTo>
                  <a:pt x="60" y="315"/>
                </a:lnTo>
                <a:cubicBezTo>
                  <a:pt x="26" y="315"/>
                  <a:pt x="0" y="288"/>
                  <a:pt x="0" y="255"/>
                </a:cubicBezTo>
                <a:lnTo>
                  <a:pt x="0" y="6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textbox 156"/>
          <p:cNvSpPr/>
          <p:nvPr/>
        </p:nvSpPr>
        <p:spPr>
          <a:xfrm>
            <a:off x="4265207" y="8245461"/>
            <a:ext cx="202564" cy="17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kern="0" spc="7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up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4265247" y="8171233"/>
            <a:ext cx="169989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8"/>
              </a:lnSpc>
              <a:tabLst/>
            </a:pPr>
            <a:r>
              <a:rPr sz="900" kern="0" spc="10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900" kern="0" spc="2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10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900" kern="0" spc="10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10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inHand</a:t>
            </a:r>
            <a:r>
              <a:rPr sz="900" kern="0" spc="230" dirty="0">
                <a:solidFill>
                  <a:srgbClr val="3EB04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</a:t>
            </a:r>
            <a:r>
              <a:rPr sz="900" kern="0" spc="100" dirty="0">
                <a:solidFill>
                  <a:srgbClr val="22181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w。</a:t>
            </a:r>
            <a:r>
              <a:rPr sz="900" kern="0" spc="90" dirty="0">
                <a:solidFill>
                  <a:srgbClr val="221814">
                    <a:alpha val="100000"/>
                  </a:srgbClr>
                </a:solidFill>
                <a:latin typeface="Arial"/>
                <a:ea typeface="Arial"/>
                <a:cs typeface="Arial"/>
              </a:rPr>
              <a:t>rks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0" name="path 160"/>
          <p:cNvSpPr/>
          <p:nvPr/>
        </p:nvSpPr>
        <p:spPr>
          <a:xfrm>
            <a:off x="4403157" y="8183933"/>
            <a:ext cx="99713" cy="60237"/>
          </a:xfrm>
          <a:custGeom>
            <a:avLst/>
            <a:gdLst/>
            <a:ahLst/>
            <a:cxnLst/>
            <a:rect l="0" t="0" r="0" b="0"/>
            <a:pathLst>
              <a:path w="157" h="94">
                <a:moveTo>
                  <a:pt x="157" y="64"/>
                </a:moveTo>
                <a:cubicBezTo>
                  <a:pt x="151" y="70"/>
                  <a:pt x="120" y="97"/>
                  <a:pt x="79" y="93"/>
                </a:cubicBezTo>
                <a:cubicBezTo>
                  <a:pt x="39" y="90"/>
                  <a:pt x="19" y="79"/>
                  <a:pt x="0" y="57"/>
                </a:cubicBezTo>
                <a:cubicBezTo>
                  <a:pt x="0" y="57"/>
                  <a:pt x="39" y="55"/>
                  <a:pt x="92" y="0"/>
                </a:cubicBezTo>
                <a:cubicBezTo>
                  <a:pt x="111" y="17"/>
                  <a:pt x="124" y="34"/>
                  <a:pt x="157" y="64"/>
                </a:cubicBezTo>
                <a:lnTo>
                  <a:pt x="157" y="64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rect 162"/>
          <p:cNvSpPr/>
          <p:nvPr/>
        </p:nvSpPr>
        <p:spPr>
          <a:xfrm>
            <a:off x="2360676" y="1065276"/>
            <a:ext cx="698500" cy="146050"/>
          </a:xfrm>
          <a:prstGeom prst="rect">
            <a:avLst/>
          </a:prstGeom>
          <a:solidFill>
            <a:srgbClr val="AFE3B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" name="rect 164"/>
          <p:cNvSpPr/>
          <p:nvPr/>
        </p:nvSpPr>
        <p:spPr>
          <a:xfrm>
            <a:off x="1055687" y="1065276"/>
            <a:ext cx="1317625" cy="146050"/>
          </a:xfrm>
          <a:prstGeom prst="rect">
            <a:avLst/>
          </a:pr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textbox 166"/>
          <p:cNvSpPr/>
          <p:nvPr/>
        </p:nvSpPr>
        <p:spPr>
          <a:xfrm>
            <a:off x="432047" y="1062811"/>
            <a:ext cx="2640329" cy="13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32"/>
              </a:lnSpc>
              <a:tabLst/>
            </a:pPr>
            <a:r>
              <a:rPr sz="600" kern="0" spc="9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P/N template:</a:t>
            </a:r>
            <a:r>
              <a:rPr sz="6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600" kern="0" spc="9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EC4600--&lt;</a:t>
            </a:r>
            <a:r>
              <a:rPr sz="6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WMNN&gt;</a:t>
            </a:r>
            <a:r>
              <a:rPr sz="600" kern="0" spc="1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600" kern="0" spc="8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-[X]</a:t>
            </a:r>
            <a:r>
              <a:rPr sz="600" kern="0" spc="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76337" y="1204848"/>
            <a:ext cx="76200" cy="737107"/>
          </a:xfrm>
          <a:prstGeom prst="rect">
            <a:avLst/>
          </a:prstGeom>
        </p:spPr>
      </p:pic>
      <p:graphicFrame>
        <p:nvGraphicFramePr>
          <p:cNvPr id="170" name="table 170"/>
          <p:cNvGraphicFramePr>
            <a:graphicFrameLocks noGrp="1"/>
          </p:cNvGraphicFramePr>
          <p:nvPr/>
        </p:nvGraphicFramePr>
        <p:xfrm>
          <a:off x="1122362" y="1931923"/>
          <a:ext cx="1327150" cy="146050"/>
        </p:xfrm>
        <a:graphic>
          <a:graphicData uri="http://schemas.openxmlformats.org/drawingml/2006/table">
            <a:tbl>
              <a:tblPr>
                <a:solidFill>
                  <a:srgbClr val="3EB044"/>
                </a:solidFill>
              </a:tblPr>
              <a:tblGrid>
                <a:gridCol w="1327150"/>
              </a:tblGrid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465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6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  <a:r>
                        <a:rPr sz="600" kern="0" spc="1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B044"/>
                    </a:solidFill>
                  </a:tcPr>
                </a:tc>
              </a:tr>
            </a:tbl>
          </a:graphicData>
        </a:graphic>
      </p:graphicFrame>
      <p:pic>
        <p:nvPicPr>
          <p:cNvPr id="172" name="picture 1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05126" y="1204848"/>
            <a:ext cx="76200" cy="528701"/>
          </a:xfrm>
          <a:prstGeom prst="rect">
            <a:avLst/>
          </a:prstGeom>
        </p:spPr>
      </p:pic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2360676" y="1722373"/>
          <a:ext cx="1317625" cy="136525"/>
        </p:xfrm>
        <a:graphic>
          <a:graphicData uri="http://schemas.openxmlformats.org/drawingml/2006/table">
            <a:tbl>
              <a:tblPr>
                <a:solidFill>
                  <a:srgbClr val="AFE3B1"/>
                </a:solidFill>
              </a:tblPr>
              <a:tblGrid>
                <a:gridCol w="1317625"/>
              </a:tblGrid>
              <a:tr h="123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01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8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OS(Option</a:t>
                      </a:r>
                      <a:r>
                        <a:rPr sz="600" kern="0" spc="70" dirty="0">
                          <a:solidFill>
                            <a:srgbClr val="505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al)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4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E3B1"/>
                    </a:solidFill>
                  </a:tcPr>
                </a:tc>
              </a:tr>
            </a:tbl>
          </a:graphicData>
        </a:graphic>
      </p:graphicFrame>
      <p:sp>
        <p:nvSpPr>
          <p:cNvPr id="176" name="textbox 176"/>
          <p:cNvSpPr/>
          <p:nvPr/>
        </p:nvSpPr>
        <p:spPr>
          <a:xfrm>
            <a:off x="348414" y="2319852"/>
            <a:ext cx="775969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900" b="1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</a:t>
            </a:r>
            <a:r>
              <a:rPr sz="900" b="1" kern="0" spc="26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70" dirty="0">
                <a:solidFill>
                  <a:srgbClr val="50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5481349" y="390816"/>
            <a:ext cx="850264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600" kern="0" spc="8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EC4600</a:t>
            </a:r>
            <a:r>
              <a:rPr sz="600" kern="0" spc="16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80" dirty="0">
                <a:solidFill>
                  <a:srgbClr val="646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Datasheet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297388" y="8103161"/>
            <a:ext cx="315551" cy="149285"/>
          </a:xfrm>
          <a:prstGeom prst="rect">
            <a:avLst/>
          </a:prstGeom>
        </p:spPr>
      </p:pic>
      <p:sp>
        <p:nvSpPr>
          <p:cNvPr id="182" name="path 182"/>
          <p:cNvSpPr/>
          <p:nvPr/>
        </p:nvSpPr>
        <p:spPr>
          <a:xfrm>
            <a:off x="6400800" y="381000"/>
            <a:ext cx="114300" cy="104775"/>
          </a:xfrm>
          <a:custGeom>
            <a:avLst/>
            <a:gdLst/>
            <a:ahLst/>
            <a:cxnLst/>
            <a:rect l="0" t="0" r="0" b="0"/>
            <a:pathLst>
              <a:path w="180" h="165">
                <a:moveTo>
                  <a:pt x="180" y="0"/>
                </a:moveTo>
                <a:lnTo>
                  <a:pt x="90" y="0"/>
                </a:lnTo>
                <a:cubicBezTo>
                  <a:pt x="40" y="0"/>
                  <a:pt x="0" y="37"/>
                  <a:pt x="0" y="82"/>
                </a:cubicBezTo>
                <a:cubicBezTo>
                  <a:pt x="0" y="128"/>
                  <a:pt x="40" y="165"/>
                  <a:pt x="90" y="165"/>
                </a:cubicBezTo>
                <a:lnTo>
                  <a:pt x="180" y="165"/>
                </a:lnTo>
                <a:lnTo>
                  <a:pt x="180" y="0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path 184"/>
          <p:cNvSpPr/>
          <p:nvPr/>
        </p:nvSpPr>
        <p:spPr>
          <a:xfrm>
            <a:off x="4488171" y="8096674"/>
            <a:ext cx="124779" cy="68779"/>
          </a:xfrm>
          <a:custGeom>
            <a:avLst/>
            <a:gdLst/>
            <a:ahLst/>
            <a:cxnLst/>
            <a:rect l="0" t="0" r="0" b="0"/>
            <a:pathLst>
              <a:path w="196" h="108">
                <a:moveTo>
                  <a:pt x="196" y="57"/>
                </a:moveTo>
                <a:lnTo>
                  <a:pt x="196" y="77"/>
                </a:lnTo>
                <a:cubicBezTo>
                  <a:pt x="196" y="77"/>
                  <a:pt x="174" y="100"/>
                  <a:pt x="165" y="106"/>
                </a:cubicBezTo>
                <a:cubicBezTo>
                  <a:pt x="153" y="96"/>
                  <a:pt x="108" y="62"/>
                  <a:pt x="61" y="108"/>
                </a:cubicBezTo>
                <a:cubicBezTo>
                  <a:pt x="34" y="75"/>
                  <a:pt x="0" y="44"/>
                  <a:pt x="0" y="44"/>
                </a:cubicBezTo>
                <a:cubicBezTo>
                  <a:pt x="0" y="44"/>
                  <a:pt x="38" y="2"/>
                  <a:pt x="101" y="0"/>
                </a:cubicBezTo>
                <a:cubicBezTo>
                  <a:pt x="157" y="1"/>
                  <a:pt x="188" y="47"/>
                  <a:pt x="196" y="57"/>
                </a:cubicBezTo>
                <a:lnTo>
                  <a:pt x="196" y="57"/>
                </a:lnTo>
                <a:close/>
              </a:path>
            </a:pathLst>
          </a:custGeom>
          <a:solidFill>
            <a:srgbClr val="3EB0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2024-09-04T02:00:37Z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2026-05-20T15:05:17</vt:filetime>
  </property>
</Properties>
</file>